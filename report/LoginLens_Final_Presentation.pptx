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Sheet1!$A$2:$A$4</c:f>
              <c:strCache>
                <c:ptCount val="3"/>
                <c:pt idx="0">
                  <c:v>Relaxed</c:v>
                </c:pt>
                <c:pt idx="1">
                  <c:v>Balanced</c:v>
                </c:pt>
                <c:pt idx="2">
                  <c:v>Strict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0.433</c:v>
                </c:pt>
                <c:pt idx="1">
                  <c:v>0.308</c:v>
                </c:pt>
                <c:pt idx="2">
                  <c:v>0.255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3B7DD8"/>
            </a:solidFill>
          </c:spPr>
          <c:cat>
            <c:strRef>
              <c:f>Sheet1!$A$2:$A$4</c:f>
              <c:strCache>
                <c:ptCount val="3"/>
                <c:pt idx="0">
                  <c:v>Relaxed</c:v>
                </c:pt>
                <c:pt idx="1">
                  <c:v>Balanced</c:v>
                </c:pt>
                <c:pt idx="2">
                  <c:v>Strict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0.14</c:v>
                </c:pt>
                <c:pt idx="1">
                  <c:v>0.301</c:v>
                </c:pt>
                <c:pt idx="2">
                  <c:v>0.505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9AA5B1"/>
            </a:solidFill>
          </c:spPr>
          <c:cat>
            <c:strRef>
              <c:f>Sheet1!$A$2:$A$4</c:f>
              <c:strCache>
                <c:ptCount val="3"/>
                <c:pt idx="0">
                  <c:v>Relaxed</c:v>
                </c:pt>
                <c:pt idx="1">
                  <c:v>Balanced</c:v>
                </c:pt>
                <c:pt idx="2">
                  <c:v>Strict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0.211</c:v>
                </c:pt>
                <c:pt idx="1">
                  <c:v>0.304</c:v>
                </c:pt>
                <c:pt idx="2">
                  <c:v>0.339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and the project in one sentence: a statistical detector of unusual login activity, built in R and Shiny, evaluated on synthetic data. Replace the bracketed placeholders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Unusual is relative to the person. The detector learns each user's habits from a baseline period, then scores a later evaluation period. All data are synthetic, so results show how the method behaves, not how real systems behave.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problem precisely: identify events that are improbable relative to that user's own past, explain why, and measure correct and incorrect flags.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five objectives; each maps to a part of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numbers on this slide are measured from data/login_events.csv. Emphasise benign noise: ten percent random-hour logins and one percent mistyped-password streaks, so normal behaviour sometimes looks unusual.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z-score in words: how many standard deviations above the user's average. Then state the floor and cap. Mention the worked, measured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flow left to right. The key point is that ground-truth labels only enter at the evaluation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four functions and what each consumes. Note compute_features only selects four columns, so labels cannot leak; a test proves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are real captures of the running app. Mention the four tabs, the profile selector, filters, CSV export and the Threshold Lab sliders.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on the seed-42 dataset, evaluation period only. Define each metric once, aloud. Stress that accuracy is dominated by normal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chart is a native PowerPoint chart built from the measured values. Interpretation: the trade-off is clear; absolute performance is modest because the anomalies were deliberately subtle. The 20-seed means show the same ordering.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upfront: synthetic data, normal approximation for counts, stable-behaviour assumption. Future work is about better count models and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Summarise: a tested, explainable detector; clear trade-off; honest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questions. See LoginLens_Viva_Preparation.docx for prepared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LoginLens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FFFFFF"/>
                </a:solidFill>
                <a:latin typeface="Calibri"/>
              </a:rPr>
              <a:t>Statistical Detection of Unusual Login Activity Using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7EE"/>
                </a:solidFill>
                <a:latin typeface="Calibri"/>
              </a:rPr>
              <a:t>Probability and Statistics course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D7EE"/>
                </a:solidFill>
                <a:latin typeface="Calibri"/>
              </a:rPr>
              <a:t>[Student name]  |  [Registration number]</a:t>
            </a:r>
          </a:p>
          <a:p>
            <a:r>
              <a:rPr sz="1800" b="0">
                <a:solidFill>
                  <a:srgbClr val="C9D7EE"/>
                </a:solidFill>
                <a:latin typeface="Calibri"/>
              </a:rPr>
              <a:t>[Department]  |  [Institution]</a:t>
            </a:r>
          </a:p>
          <a:p>
            <a:r>
              <a:rPr sz="1800" b="0">
                <a:solidFill>
                  <a:srgbClr val="C9D7EE"/>
                </a:solidFill>
                <a:latin typeface="Calibri"/>
              </a:rPr>
              <a:t>[Faculty guide]  |  [Academic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anchor="ctr"/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Abstract and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0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LoginLens  |  synthetic data only  |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444B55"/>
                </a:solidFill>
                <a:latin typeface="Calibri"/>
              </a:rPr>
              <a:t>• Whether a login is unusual depends on the user: 3 a.m. is normal for some, suspicious for others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444B55"/>
                </a:solidFill>
                <a:latin typeface="Calibri"/>
              </a:rPr>
              <a:t>• LoginLens learns each user's own baseline, then scores later events with explainable statistical rules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444B55"/>
                </a:solidFill>
                <a:latin typeface="Calibri"/>
              </a:rPr>
              <a:t>• Three evidence sources: login-hour rarity, daily-frequency z-score, failed-login bursts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444B55"/>
                </a:solidFill>
                <a:latin typeface="Calibri"/>
              </a:rPr>
              <a:t>• Evaluated on synthetic data with injected anomalies, using a confusion matrix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444B55"/>
                </a:solidFill>
                <a:latin typeface="Calibri"/>
              </a:rPr>
              <a:t>• A flag means "statistically unusual" - never "confirmed attack"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anchor="ctr"/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0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LoginLens  |  synthetic data only  |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444B55"/>
                </a:solidFill>
                <a:latin typeface="Calibri"/>
              </a:rPr>
              <a:t>• Given: a history of login events (user, time, success or failure)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444B55"/>
                </a:solidFill>
                <a:latin typeface="Calibri"/>
              </a:rPr>
              <a:t>• Find: new events whose hour, daily count or failure pattern is statistically unusual for that user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444B55"/>
                </a:solidFill>
                <a:latin typeface="Calibri"/>
              </a:rPr>
              <a:t>• Explain: show the reason each event was flagged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444B55"/>
                </a:solidFill>
                <a:latin typeface="Calibri"/>
              </a:rPr>
              <a:t>• Measure: how many flags are correct (precision) and how many real anomalies are found (recall)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444B55"/>
                </a:solidFill>
                <a:latin typeface="Calibri"/>
              </a:rPr>
              <a:t>• Constraint: real login data is private, so use synthetic data with known anomalies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anchor="ctr"/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Aim and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0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LoginLens  |  synthetic data only  |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444B55"/>
                </a:solidFill>
                <a:latin typeface="Calibri"/>
              </a:rPr>
              <a:t>• Aim: a transparent, tested statistical detector with an interactive dashboard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B55"/>
                </a:solidFill>
                <a:latin typeface="Calibri"/>
              </a:rPr>
              <a:t>• 1. Generate reproducible synthetic data with user-specific behaviour and injected anomalies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B55"/>
                </a:solidFill>
                <a:latin typeface="Calibri"/>
              </a:rPr>
              <a:t>• 2. Estimate per-user baselines from a baseline period only (no leakage)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B55"/>
                </a:solidFill>
                <a:latin typeface="Calibri"/>
              </a:rPr>
              <a:t>• 3. Score evaluation events with three rules and three threshold profiles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B55"/>
                </a:solidFill>
                <a:latin typeface="Calibri"/>
              </a:rPr>
              <a:t>• 4. Evaluate with TP, FP, TN, FN, precision, recall, specificity, accuracy, F1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B55"/>
                </a:solidFill>
                <a:latin typeface="Calibri"/>
              </a:rPr>
              <a:t>• 5. Build the Shiny dashboard and an automated test suite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anchor="ctr"/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Dataset and synthetic data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0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LoginLens  |  synthetic data only  | 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035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Total events / users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3179 / 25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Baseline (days 1-30)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1512 events, no anomalies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Evaluation (days 31-60)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1667 events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Injected anomalies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93 (5.6% of evaluation)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Types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unusual hour 30, high frequency 29, failed burst 34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42 (reproducible)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4630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444B55"/>
                </a:solidFill>
                <a:latin typeface="Calibri"/>
              </a:rPr>
              <a:t>• Per-user preferred hour, hour spread, daily rate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B55"/>
                </a:solidFill>
                <a:latin typeface="Calibri"/>
              </a:rPr>
              <a:t>• Over-dispersed daily counts (negative binomial)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B55"/>
                </a:solidFill>
                <a:latin typeface="Calibri"/>
              </a:rPr>
              <a:t>• 10% benign random-hour logins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B55"/>
                </a:solidFill>
                <a:latin typeface="Calibri"/>
              </a:rPr>
              <a:t>• 1% benign failure streaks before a success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B55"/>
                </a:solidFill>
                <a:latin typeface="Calibri"/>
              </a:rPr>
              <a:t>• Labels: evaluation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anchor="ctr"/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Statistical concepts and the z-score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0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LoginLens  |  synthetic data only  |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44B55"/>
                </a:solidFill>
                <a:latin typeface="Calibri"/>
              </a:rPr>
              <a:t>• Daily-frequency z-score for the k-th login of a user-day: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822960"/>
          </a:xfrm>
          <a:prstGeom prst="roundRect">
            <a:avLst/>
          </a:prstGeom>
          <a:solidFill>
            <a:srgbClr val="E8EEF7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3A5F"/>
                </a:solidFill>
                <a:latin typeface="Calibri"/>
              </a:rPr>
              <a:t>z = min( (k − mean) / max(sd, 1) , 10 )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44B55"/>
                </a:solidFill>
                <a:latin typeface="Calibri"/>
              </a:rPr>
              <a:t>• mean, sd: user's daily login counts over the baseline days (zero days included)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44B55"/>
                </a:solidFill>
                <a:latin typeface="Calibri"/>
              </a:rPr>
              <a:t>• max(sd, 1) avoids division by zero; cap 10 keeps scores finite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44B55"/>
                </a:solidFill>
                <a:latin typeface="Calibri"/>
              </a:rPr>
              <a:t>• Measured example: user U16, mean 1.97, sd 1.54; 10th login of a day gives z = 5.21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44B55"/>
                </a:solidFill>
                <a:latin typeface="Calibri"/>
              </a:rPr>
              <a:t>• Hour rarity: P(h) = ((K n)h + α) / (N + 24α), circular kernel; flag if P(h) &lt; r/24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44B55"/>
                </a:solidFill>
                <a:latin typeface="Calibri"/>
              </a:rPr>
              <a:t>• Failed bursts: failures in the last 10 minutes ≥ b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44B55"/>
                </a:solidFill>
                <a:latin typeface="Calibri"/>
              </a:rPr>
              <a:t>• Caution: counts are skewed integers, so the normal-based z-score is a heuristic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anchor="ctr"/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System workflow and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0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LoginLens  |  synthetic data only  |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468880" cy="1005840"/>
          </a:xfrm>
          <a:prstGeom prst="roundRect">
            <a:avLst/>
          </a:prstGeom>
          <a:solidFill>
            <a:srgbClr val="E8EEF7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F3A5F"/>
                </a:solidFill>
                <a:latin typeface="Calibri"/>
              </a:rPr>
              <a:t>Synthetic generator</a:t>
            </a:r>
          </a:p>
          <a:p>
            <a:pPr algn="ctr"/>
            <a:r>
              <a:rPr sz="1500" b="0">
                <a:solidFill>
                  <a:srgbClr val="1F3A5F"/>
                </a:solidFill>
                <a:latin typeface="Calibri"/>
              </a:rPr>
              <a:t>R/generate_data.R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554480"/>
            <a:ext cx="2468880" cy="1005840"/>
          </a:xfrm>
          <a:prstGeom prst="roundRect">
            <a:avLst/>
          </a:prstGeom>
          <a:solidFill>
            <a:srgbClr val="E8EEF7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F3A5F"/>
                </a:solidFill>
                <a:latin typeface="Calibri"/>
              </a:rPr>
              <a:t>login_events.csv</a:t>
            </a:r>
          </a:p>
          <a:p>
            <a:pPr algn="ctr"/>
            <a:r>
              <a:rPr sz="1500" b="0">
                <a:solidFill>
                  <a:srgbClr val="1F3A5F"/>
                </a:solidFill>
                <a:latin typeface="Calibri"/>
              </a:rPr>
              <a:t>baseline |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2468880" cy="1005840"/>
          </a:xfrm>
          <a:prstGeom prst="roundRect">
            <a:avLst/>
          </a:prstGeom>
          <a:solidFill>
            <a:srgbClr val="E8EEF7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F3A5F"/>
                </a:solidFill>
                <a:latin typeface="Calibri"/>
              </a:rPr>
              <a:t>fit_baseline()</a:t>
            </a:r>
          </a:p>
          <a:p>
            <a:pPr algn="ctr"/>
            <a:r>
              <a:rPr sz="1500" b="0">
                <a:solidFill>
                  <a:srgbClr val="1F3A5F"/>
                </a:solidFill>
                <a:latin typeface="Calibri"/>
              </a:rPr>
              <a:t>baseline rows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554480"/>
            <a:ext cx="2286000" cy="1005840"/>
          </a:xfrm>
          <a:prstGeom prst="roundRect">
            <a:avLst/>
          </a:prstGeom>
          <a:solidFill>
            <a:srgbClr val="E8EEF7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F3A5F"/>
                </a:solidFill>
                <a:latin typeface="Calibri"/>
              </a:rPr>
              <a:t>compute_features()</a:t>
            </a:r>
          </a:p>
          <a:p>
            <a:pPr algn="ctr"/>
            <a:r>
              <a:rPr sz="1500" b="0">
                <a:solidFill>
                  <a:srgbClr val="1F3A5F"/>
                </a:solidFill>
                <a:latin typeface="Calibri"/>
              </a:rPr>
              <a:t>hour, z, burst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2057400"/>
            <a:ext cx="548640" cy="0"/>
          </a:xfrm>
          <a:prstGeom prst="line">
            <a:avLst/>
          </a:prstGeom>
          <a:ln w="25400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35040" y="2057400"/>
            <a:ext cx="548640" cy="0"/>
          </a:xfrm>
          <a:prstGeom prst="line">
            <a:avLst/>
          </a:prstGeom>
          <a:ln w="25400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52560" y="2057400"/>
            <a:ext cx="274320" cy="0"/>
          </a:xfrm>
          <a:prstGeom prst="line">
            <a:avLst/>
          </a:prstGeom>
          <a:ln w="25400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26880" y="3291840"/>
            <a:ext cx="2286000" cy="1005840"/>
          </a:xfrm>
          <a:prstGeom prst="roundRect">
            <a:avLst/>
          </a:prstGeom>
          <a:solidFill>
            <a:srgbClr val="E8EEF7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F3A5F"/>
                </a:solidFill>
                <a:latin typeface="Calibri"/>
              </a:rPr>
              <a:t>apply_thresholds()</a:t>
            </a:r>
          </a:p>
          <a:p>
            <a:pPr algn="ctr"/>
            <a:r>
              <a:rPr sz="1400" b="0">
                <a:solidFill>
                  <a:srgbClr val="1F3A5F"/>
                </a:solidFill>
                <a:latin typeface="Calibri"/>
              </a:rPr>
              <a:t>relaxed|balanced|strict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469880" y="2560320"/>
            <a:ext cx="0" cy="731520"/>
          </a:xfrm>
          <a:prstGeom prst="line">
            <a:avLst/>
          </a:prstGeom>
          <a:ln w="25400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0" y="3291840"/>
            <a:ext cx="2468880" cy="1005840"/>
          </a:xfrm>
          <a:prstGeom prst="roundRect">
            <a:avLst/>
          </a:prstGeom>
          <a:solidFill>
            <a:srgbClr val="E8EEF7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F3A5F"/>
                </a:solidFill>
                <a:latin typeface="Calibri"/>
              </a:rPr>
              <a:t>Flags, scores,</a:t>
            </a:r>
          </a:p>
          <a:p>
            <a:pPr algn="ctr"/>
            <a:r>
              <a:rPr sz="1500" b="0">
                <a:solidFill>
                  <a:srgbClr val="1F3A5F"/>
                </a:solidFill>
                <a:latin typeface="Calibri"/>
              </a:rPr>
              <a:t>reasons (no labels)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9052560" y="3794760"/>
            <a:ext cx="274320" cy="0"/>
          </a:xfrm>
          <a:prstGeom prst="line">
            <a:avLst/>
          </a:prstGeom>
          <a:ln w="25400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83680" y="4846320"/>
            <a:ext cx="2468880" cy="1005840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evaluate.R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confusion matrix, metrics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8120" y="4297680"/>
            <a:ext cx="0" cy="548640"/>
          </a:xfrm>
          <a:prstGeom prst="line">
            <a:avLst/>
          </a:prstGeom>
          <a:ln w="25400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66160" y="4846320"/>
            <a:ext cx="2468880" cy="100584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B55"/>
                </a:solidFill>
                <a:latin typeface="Calibri"/>
              </a:rPr>
              <a:t>Ground-truth labels</a:t>
            </a:r>
          </a:p>
          <a:p>
            <a:pPr algn="ctr"/>
            <a:r>
              <a:rPr sz="1500" b="0">
                <a:solidFill>
                  <a:srgbClr val="444B55"/>
                </a:solidFill>
                <a:latin typeface="Calibri"/>
              </a:rPr>
              <a:t>(evaluation only)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0" y="5349240"/>
            <a:ext cx="548640" cy="0"/>
          </a:xfrm>
          <a:prstGeom prst="line">
            <a:avLst/>
          </a:prstGeom>
          <a:ln w="25400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566160" y="3291840"/>
            <a:ext cx="2468880" cy="1005840"/>
          </a:xfrm>
          <a:prstGeom prst="roundRect">
            <a:avLst/>
          </a:prstGeom>
          <a:solidFill>
            <a:srgbClr val="E8EEF7"/>
          </a:solidFill>
          <a:ln w="15875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F3A5F"/>
                </a:solidFill>
                <a:latin typeface="Calibri"/>
              </a:rPr>
              <a:t>Shiny dashboard</a:t>
            </a:r>
          </a:p>
          <a:p>
            <a:pPr algn="ctr"/>
            <a:r>
              <a:rPr sz="1500" b="0">
                <a:solidFill>
                  <a:srgbClr val="1F3A5F"/>
                </a:solidFill>
                <a:latin typeface="Calibri"/>
              </a:rPr>
              <a:t>app.R (4 tabs)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035040" y="3794760"/>
            <a:ext cx="548640" cy="0"/>
          </a:xfrm>
          <a:prstGeom prst="line">
            <a:avLst/>
          </a:prstGeom>
          <a:ln w="25400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anchor="ctr"/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Detector implementation in 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0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LoginLens  |  synthetic data only  | 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046720"/>
              </a:tblGrid>
              <a:tr h="54863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fit_baseline()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Per-user hour probabilities and daily mean/sd from baseline rows only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compute_features()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Uses only event_id, user_id, timestamp, status; hour probability, running z, failure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apply_thresholds()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Score S = max(ratios); flag if S ≥ 1; reason text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confusion_metrics()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TP, FP, TN, FN and metrics; NA for zero denominators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threshold_profiles()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relaxed r=0.10, z=3.5, b=6; balanced 0.20, 3.0, 4; strict 0.30, 2.5, 3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44B55"/>
                </a:solidFill>
                <a:latin typeface="Calibri"/>
              </a:rPr>
              <a:t>• Edge cases handled: zero variance, &lt;20 baseline events (pooled profile), missing and empty input, NA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anchor="ctr"/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Dashboard interface and main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0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LoginLens  |  synthetic data only  |  9</a:t>
            </a:r>
          </a:p>
        </p:txBody>
      </p:sp>
      <p:pic>
        <p:nvPicPr>
          <p:cNvPr id="5" name="Picture 4" descr="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4937760" cy="3429000"/>
          </a:xfrm>
          <a:prstGeom prst="rect">
            <a:avLst/>
          </a:prstGeom>
        </p:spPr>
      </p:pic>
      <p:pic>
        <p:nvPicPr>
          <p:cNvPr id="6" name="Picture 5" descr="threshold_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71600"/>
            <a:ext cx="493776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444B55"/>
                </a:solidFill>
                <a:latin typeface="Calibri"/>
              </a:rPr>
              <a:t>• Overview: counts and charts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B55"/>
                </a:solidFill>
                <a:latin typeface="Calibri"/>
              </a:rPr>
              <a:t>• Explorer: filters, reasons, CSV export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B55"/>
                </a:solidFill>
                <a:latin typeface="Calibri"/>
              </a:rPr>
              <a:t>• Threshold Lab: profiles and custom sliders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B55"/>
                </a:solidFill>
                <a:latin typeface="Calibri"/>
              </a:rPr>
              <a:t>• Insights: formulas and limitations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anchor="ctr"/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Experimental evaluation and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0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LoginLens  |  synthetic data only  | 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  <a:gridCol w="1005840"/>
                <a:gridCol w="1188720"/>
                <a:gridCol w="1005840"/>
                <a:gridCol w="1554480"/>
                <a:gridCol w="1371600"/>
                <a:gridCol w="1280160"/>
                <a:gridCol w="91440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Profile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FPR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Relaxed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1557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0.433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0.140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0.011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0.211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1511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0.308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0.301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0.040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0.304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Strict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1437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0.255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0.505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0.087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B55"/>
                          </a:solidFill>
                          <a:latin typeface="Calibri"/>
                        </a:rPr>
                        <a:t>0.339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39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44B55"/>
                </a:solidFill>
                <a:latin typeface="Calibri"/>
              </a:rPr>
              <a:t>• Precision = TP/(TP+FP);  Recall = TP/(TP+FN);  FPR = FP/(FP+TN)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44B55"/>
                </a:solidFill>
                <a:latin typeface="Calibri"/>
              </a:rPr>
              <a:t>• Specificity = 1 − FPR;  F1 = 2PR/(P+R);  zero denominator → NA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44B55"/>
                </a:solidFill>
                <a:latin typeface="Calibri"/>
              </a:rPr>
              <a:t>• Measured on 1,667 evaluation events (93 injected); ground truth used only after detection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44B55"/>
                </a:solidFill>
                <a:latin typeface="Calibri"/>
              </a:rPr>
              <a:t>• Accuracy 0.890–0.942 is high because ~94% of events are normal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anchor="ctr"/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Results and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0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LoginLens  |  synthetic data only  |  11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585216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751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444B55"/>
                </a:solidFill>
                <a:latin typeface="Calibri"/>
              </a:rPr>
              <a:t>• Relaxed → strict: recall 0.140 → 0.505, precision 0.433 → 0.255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B55"/>
                </a:solidFill>
                <a:latin typeface="Calibri"/>
              </a:rPr>
              <a:t>• Strict flags 184 events to catch 47 of 93; 137 are false alarms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B55"/>
                </a:solidFill>
                <a:latin typeface="Calibri"/>
              </a:rPr>
              <a:t>• Same ordering in the mean of 20 other seeds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B55"/>
                </a:solidFill>
                <a:latin typeface="Calibri"/>
              </a:rPr>
              <a:t>• Subtle anomalies are often missed (by design)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B55"/>
                </a:solidFill>
                <a:latin typeface="Calibri"/>
              </a:rPr>
              <a:t>• Simulated data: not evidence about real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anchor="ctr"/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Limitations and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0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LoginLens  |  synthetic data only  |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444B55"/>
                </a:solidFill>
                <a:latin typeface="Calibri"/>
              </a:rPr>
              <a:t>• Limitations</a:t>
            </a:r>
          </a:p>
          <a:p>
            <a:pPr lvl="1" algn="l">
              <a:spcAft>
                <a:spcPts val="800"/>
              </a:spcAft>
            </a:pPr>
            <a:r>
              <a:rPr sz="1900">
                <a:solidFill>
                  <a:srgbClr val="444B55"/>
                </a:solidFill>
                <a:latin typeface="Calibri"/>
              </a:rPr>
              <a:t>– Synthetic data; anomalies injected by the same author</a:t>
            </a:r>
          </a:p>
          <a:p>
            <a:pPr lvl="1" algn="l">
              <a:spcAft>
                <a:spcPts val="800"/>
              </a:spcAft>
            </a:pPr>
            <a:r>
              <a:rPr sz="1900">
                <a:solidFill>
                  <a:srgbClr val="444B55"/>
                </a:solidFill>
                <a:latin typeface="Calibri"/>
              </a:rPr>
              <a:t>– Normal z-score on skewed, over-dispersed counts is a heuristic</a:t>
            </a:r>
          </a:p>
          <a:p>
            <a:pPr lvl="1" algn="l">
              <a:spcAft>
                <a:spcPts val="800"/>
              </a:spcAft>
            </a:pPr>
            <a:r>
              <a:rPr sz="1900">
                <a:solidFill>
                  <a:srgbClr val="444B55"/>
                </a:solidFill>
                <a:latin typeface="Calibri"/>
              </a:rPr>
              <a:t>– Stable-behaviour and clean-baseline assumptions; no drift handling</a:t>
            </a:r>
          </a:p>
          <a:p>
            <a:pPr lvl="1" algn="l">
              <a:spcAft>
                <a:spcPts val="800"/>
              </a:spcAft>
            </a:pPr>
            <a:r>
              <a:rPr sz="1900">
                <a:solidFill>
                  <a:srgbClr val="444B55"/>
                </a:solidFill>
                <a:latin typeface="Calibri"/>
              </a:rPr>
              <a:t>– Three rules combined with OR raise false alarms; device and location unused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B55"/>
                </a:solidFill>
                <a:latin typeface="Calibri"/>
              </a:rPr>
              <a:t>• Future scope</a:t>
            </a:r>
          </a:p>
          <a:p>
            <a:pPr lvl="1" algn="l">
              <a:spcAft>
                <a:spcPts val="800"/>
              </a:spcAft>
            </a:pPr>
            <a:r>
              <a:rPr sz="1900">
                <a:solidFill>
                  <a:srgbClr val="444B55"/>
                </a:solidFill>
                <a:latin typeface="Calibri"/>
              </a:rPr>
              <a:t>– Poisson / negative-binomial tail probabilities; rolling baselines</a:t>
            </a:r>
          </a:p>
          <a:p>
            <a:pPr lvl="1" algn="l">
              <a:spcAft>
                <a:spcPts val="800"/>
              </a:spcAft>
            </a:pPr>
            <a:r>
              <a:rPr sz="1900">
                <a:solidFill>
                  <a:srgbClr val="444B55"/>
                </a:solidFill>
                <a:latin typeface="Calibri"/>
              </a:rPr>
              <a:t>– Device and location novelty; thresholds tuned on validation data</a:t>
            </a:r>
          </a:p>
          <a:p>
            <a:pPr lvl="1" algn="l">
              <a:spcAft>
                <a:spcPts val="800"/>
              </a:spcAft>
            </a:pPr>
            <a:r>
              <a:rPr sz="1900">
                <a:solidFill>
                  <a:srgbClr val="444B55"/>
                </a:solidFill>
                <a:latin typeface="Calibri"/>
              </a:rPr>
              <a:t>– ROC / precision-recall curves; tests on anonymised public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anchor="ctr"/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0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LoginLens  |  synthetic data only  |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444B55"/>
                </a:solidFill>
                <a:latin typeface="Calibri"/>
              </a:rPr>
              <a:t>• Explainable statistical rules detect unusual logins relative to each user's own baseline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444B55"/>
                </a:solidFill>
                <a:latin typeface="Calibri"/>
              </a:rPr>
              <a:t>• Baseline/evaluation separation and label isolation are built in and tested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444B55"/>
                </a:solidFill>
                <a:latin typeface="Calibri"/>
              </a:rPr>
              <a:t>• Stricter thresholds raised recall and lowered precision on this synthetic data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444B55"/>
                </a:solidFill>
                <a:latin typeface="Calibri"/>
              </a:rPr>
              <a:t>• Results are simulated; the value of the project is the method and its honest evaluation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444B55"/>
                </a:solidFill>
                <a:latin typeface="Calibri"/>
              </a:rPr>
              <a:t>• Delivered: R/Shiny app, reproducible data, automated tests, 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9D7EE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